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A23B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463040"/>
            <a:ext cx="4389120" cy="4389120"/>
          </a:xfrm>
          <a:prstGeom prst="ellipse">
            <a:avLst/>
          </a:prstGeom>
          <a:solidFill>
            <a:srgbClr val="1E2A52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206240"/>
            <a:ext cx="3291840" cy="3291840"/>
          </a:xfrm>
          <a:prstGeom prst="ellipse">
            <a:avLst/>
          </a:prstGeom>
          <a:solidFill>
            <a:srgbClr val="0F17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BENCHMARK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FCPS vs. the Institutions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multimodal financial-crisis prediction system stacks up against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Fed, OFR, ECB, IMF, BIS and sell-side bank stress frameworks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3291840" cy="1143000"/>
          </a:xfrm>
          <a:prstGeom prst="rect">
            <a:avLst/>
          </a:prstGeom>
          <a:solidFill>
            <a:srgbClr val="1E2A52"/>
          </a:solidFill>
          <a:ln w="12700">
            <a:solidFill>
              <a:srgbClr val="E0A23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572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0.82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5074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 vs Fed STLFSI4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4434840"/>
            <a:ext cx="3291840" cy="1143000"/>
          </a:xfrm>
          <a:prstGeom prst="rect">
            <a:avLst/>
          </a:prstGeom>
          <a:solidFill>
            <a:srgbClr val="1E2A52"/>
          </a:solidFill>
          <a:ln w="12700">
            <a:solidFill>
              <a:srgbClr val="E0A23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4572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 vs 0.17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26280" y="5074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PR-AUC: model vs VIX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4434840"/>
            <a:ext cx="3291840" cy="1143000"/>
          </a:xfrm>
          <a:prstGeom prst="rect">
            <a:avLst/>
          </a:prstGeom>
          <a:solidFill>
            <a:srgbClr val="1E2A52"/>
          </a:solidFill>
          <a:ln w="12700">
            <a:solidFill>
              <a:srgbClr val="E0A23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8160" y="4572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frameworks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138160" y="5074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head-to-head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Romin Patel  ·  MBAI 5600G Capstone (Group 13)  ·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UNDER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FCPS actually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daily, multimodal pipeline that measures financial stress and tries to predict equity-market crises — wrapped in an honest, leakage-free evaluation harness.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82296" cy="1554480"/>
          </a:xfrm>
          <a:prstGeom prst="rect">
            <a:avLst/>
          </a:prstGeom>
          <a:solidFill>
            <a:srgbClr val="E0A23B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58775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71576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5328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HMM regimes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00200" y="29718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Stable / Volatile / Crisis on price + vol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233172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2331720"/>
            <a:ext cx="82296" cy="1554480"/>
          </a:xfrm>
          <a:prstGeom prst="rect">
            <a:avLst/>
          </a:prstGeom>
          <a:solidFill>
            <a:srgbClr val="E0A23B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9432" y="258775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71576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5328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EGARCH(1,1)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303520" y="29718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conditional volatility (leverage effect)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46720" y="233172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0" y="2331720"/>
            <a:ext cx="82296" cy="1554480"/>
          </a:xfrm>
          <a:prstGeom prst="rect">
            <a:avLst/>
          </a:prstGeom>
          <a:solidFill>
            <a:srgbClr val="E0A23B"/>
          </a:solidFill>
          <a:ln/>
        </p:spPr>
      </p:sp>
      <p:sp>
        <p:nvSpPr>
          <p:cNvPr id="19" name="Shape 15"/>
          <p:cNvSpPr/>
          <p:nvPr/>
        </p:nvSpPr>
        <p:spPr>
          <a:xfrm>
            <a:off x="8302752" y="258775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715768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06840" y="25328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FRED macro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006840" y="29718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spread, yield curve, fed funds, funding stress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411480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14800"/>
            <a:ext cx="82296" cy="1554480"/>
          </a:xfrm>
          <a:prstGeom prst="rect">
            <a:avLst/>
          </a:prstGeom>
          <a:solidFill>
            <a:srgbClr val="E0A23B"/>
          </a:solidFill>
          <a:ln/>
        </p:spPr>
      </p:sp>
      <p:sp>
        <p:nvSpPr>
          <p:cNvPr id="25" name="Shape 20"/>
          <p:cNvSpPr/>
          <p:nvPr/>
        </p:nvSpPr>
        <p:spPr>
          <a:xfrm>
            <a:off x="896112" y="437083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498848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43159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FinBERT sentiment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600200" y="47548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News-headline fear signal (multimodal layer)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343400" y="411480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43400" y="4114800"/>
            <a:ext cx="82296" cy="1554480"/>
          </a:xfrm>
          <a:prstGeom prst="rect">
            <a:avLst/>
          </a:prstGeom>
          <a:solidFill>
            <a:srgbClr val="E0A23B"/>
          </a:solidFill>
          <a:ln/>
        </p:spPr>
      </p:sp>
      <p:sp>
        <p:nvSpPr>
          <p:cNvPr id="31" name="Shape 25"/>
          <p:cNvSpPr/>
          <p:nvPr/>
        </p:nvSpPr>
        <p:spPr>
          <a:xfrm>
            <a:off x="4599432" y="437083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498848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03520" y="43159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 + FSI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5303520" y="47548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4-component daily Financial Stress Index + classifier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8046720" y="411480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46720" y="4114800"/>
            <a:ext cx="82296" cy="1554480"/>
          </a:xfrm>
          <a:prstGeom prst="rect">
            <a:avLst/>
          </a:prstGeom>
          <a:solidFill>
            <a:srgbClr val="E0A23B"/>
          </a:solidFill>
          <a:ln/>
        </p:spPr>
      </p:sp>
      <p:sp>
        <p:nvSpPr>
          <p:cNvPr id="37" name="Shape 30"/>
          <p:cNvSpPr/>
          <p:nvPr/>
        </p:nvSpPr>
        <p:spPr>
          <a:xfrm>
            <a:off x="8302752" y="437083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498848"/>
            <a:ext cx="310896" cy="31089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006840" y="43159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 honest harness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9006840" y="47548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Purged walk-forward, baselines, calibration, SHAP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REVIEW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headline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FCPS is unusual: it measures and reports the gap between in-sample hype and out-of-sample reality, instead of hiding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15184" cy="3291840"/>
          </a:xfrm>
          <a:prstGeom prst="rect">
            <a:avLst/>
          </a:prstGeom>
          <a:solidFill>
            <a:srgbClr val="1E2A5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2615184" cy="109728"/>
          </a:xfrm>
          <a:prstGeom prst="rect">
            <a:avLst/>
          </a:prstGeom>
          <a:solidFill>
            <a:srgbClr val="E1555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60604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55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0.99 -&gt; 0.10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808" y="333756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 skill collapses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931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In-sample F1 0.99 was mostly leakage. Honest walk-forward PR-AUC is about 0.10.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56432" y="2286000"/>
            <a:ext cx="2615184" cy="3291840"/>
          </a:xfrm>
          <a:prstGeom prst="rect">
            <a:avLst/>
          </a:prstGeom>
          <a:solidFill>
            <a:srgbClr val="1E2A5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56432" y="2286000"/>
            <a:ext cx="2615184" cy="109728"/>
          </a:xfrm>
          <a:prstGeom prst="rect">
            <a:avLst/>
          </a:prstGeom>
          <a:solidFill>
            <a:srgbClr val="E0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60604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VIX wins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66160" y="333756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1-line rule beats the ML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21024" y="3931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VIX threshold scores PR-AUC 0.17 - above the full model's 0.10.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2784" y="2286000"/>
            <a:ext cx="2615184" cy="3291840"/>
          </a:xfrm>
          <a:prstGeom prst="rect">
            <a:avLst/>
          </a:prstGeom>
          <a:solidFill>
            <a:srgbClr val="1E2A5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2784" y="2286000"/>
            <a:ext cx="2615184" cy="109728"/>
          </a:xfrm>
          <a:prstGeom prst="rect">
            <a:avLst/>
          </a:prstGeom>
          <a:solidFill>
            <a:srgbClr val="E15554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260604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55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-0.05 edge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82512" y="333756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stock-direction edge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7376" y="3931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up/down detection has no reliable edge over 'always-up'.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89136" y="2286000"/>
            <a:ext cx="2615184" cy="3291840"/>
          </a:xfrm>
          <a:prstGeom prst="rect">
            <a:avLst/>
          </a:prstGeom>
          <a:solidFill>
            <a:srgbClr val="1E2A5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89136" y="2286000"/>
            <a:ext cx="2615184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9198864" y="260604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0.82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98864" y="333756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result survives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53728" y="3931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FSI reproduces the Fed's STLFSI4 from only public inputs.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 value isn't a flashy crisis predictor - it's an institution-grade stress index plus a rigor harness that exposes what doesn't work.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big institutions measure crisis risk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2708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3200400"/>
                <a:gridCol w="329184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 /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Louis Fed - STLFSI4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series (rates, spreads, SOFR)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principal component / co-movement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Chicago Fed - NFCI / ANFCI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 indicators (risk, credit, leverage)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factor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OFR - Financial Stress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vars, 5 categories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factor, single latent 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ECB - CISS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raw -&gt; 5 market sub-indices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Portfolio-theory aggregation (cross-corr.)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IMF - GFSR Growth-at-Risk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conditions + credit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quantile regression (5th pct)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 - Credit-gap / DSR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Credit-to-GDP, debt service, 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One-sided HP-filter gaps + thresholds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Goldman Sachs - GS FCI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drivers (rate, yield, credit, equity, FX)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Macro-model GDP-impact weights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CBOE - VIX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option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Option-implied volatility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FCPS sits in this family - it is a 4-component daily stress index, the lightest member of the group.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REFRAMING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Institutions split 'crisis work' into four jobs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FCPS mostly attempts jobs 1 and 2. Its honest null comes from missing the signals that power jobs 3 and 4.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6888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670048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4048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1 - Measure stress now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74520" y="282549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Coincident indices: STLFSI, NFCI, OFR FSI, ECB CISS, GS FCI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874520" y="3447288"/>
            <a:ext cx="3977640" cy="3657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34472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FCPS FSI lives here - and excels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2148840"/>
            <a:ext cx="5349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0" y="246888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670048"/>
            <a:ext cx="374904" cy="374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4048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2 - Nowcast market stress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452360" y="282549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Short-horizon, vol-driven signals; VIX is the dominant input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452360" y="3447288"/>
            <a:ext cx="3977640" cy="365760"/>
          </a:xfrm>
          <a:prstGeom prst="rect">
            <a:avLst/>
          </a:prstGeom>
          <a:solidFill>
            <a:srgbClr val="E0A23B"/>
          </a:solidFill>
          <a:ln/>
        </p:spPr>
      </p:sp>
      <p:sp>
        <p:nvSpPr>
          <p:cNvPr id="18" name="Text 14"/>
          <p:cNvSpPr/>
          <p:nvPr/>
        </p:nvSpPr>
        <p:spPr>
          <a:xfrm>
            <a:off x="7498080" y="34472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FCPS competes - but VIX wins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40080" y="4160520"/>
            <a:ext cx="5349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14400" y="448056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681728"/>
            <a:ext cx="374904" cy="374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74520" y="44165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3 - Flag slow vulnerabilities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874520" y="483717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credit-to-GDP gap &amp; DSR: 1-2 year early warning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1874520" y="5458968"/>
            <a:ext cx="3977640" cy="365760"/>
          </a:xfrm>
          <a:prstGeom prst="rect">
            <a:avLst/>
          </a:prstGeom>
          <a:solidFill>
            <a:srgbClr val="E15554"/>
          </a:solidFill>
          <a:ln/>
        </p:spPr>
      </p:sp>
      <p:sp>
        <p:nvSpPr>
          <p:cNvPr id="25" name="Text 20"/>
          <p:cNvSpPr/>
          <p:nvPr/>
        </p:nvSpPr>
        <p:spPr>
          <a:xfrm>
            <a:off x="1920240" y="545896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FCPS has no balance-sheet signals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217920" y="4160520"/>
            <a:ext cx="5349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92240" y="448056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681728"/>
            <a:ext cx="374904" cy="37490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52360" y="44165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4 - Forecast the risk distribution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452360" y="483717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Growth-at-Risk: quantiles of future growth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7452360" y="5458968"/>
            <a:ext cx="3977640" cy="365760"/>
          </a:xfrm>
          <a:prstGeom prst="rect">
            <a:avLst/>
          </a:prstGeom>
          <a:solidFill>
            <a:srgbClr val="E15554"/>
          </a:solidFill>
          <a:ln/>
        </p:spPr>
      </p:sp>
      <p:sp>
        <p:nvSpPr>
          <p:cNvPr id="32" name="Text 26"/>
          <p:cNvSpPr/>
          <p:nvPr/>
        </p:nvSpPr>
        <p:spPr>
          <a:xfrm>
            <a:off x="7498080" y="545896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FCPS only has a binary flag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GENUINE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FCPS's stress index is institution-grade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114800" cy="4023360"/>
          </a:xfrm>
          <a:prstGeom prst="rect">
            <a:avLst/>
          </a:prstGeom>
          <a:solidFill>
            <a:srgbClr val="1E2A52"/>
          </a:solidFill>
          <a:ln w="15240">
            <a:solidFill>
              <a:srgbClr val="E0A23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2860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0.82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FSI vs. the Fed's published STLFSI4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 = 0.861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NBER recessions - clears the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Hatzius et al. (2010) &gt;= 0.80 institutional bar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0" y="1874520"/>
            <a:ext cx="6492240" cy="1207008"/>
          </a:xfrm>
          <a:prstGeom prst="rect">
            <a:avLst/>
          </a:prstGeom>
          <a:solidFill>
            <a:srgbClr val="1E2A5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874520"/>
            <a:ext cx="91440" cy="12070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2020824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family, far fewer inputs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244144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what the Fed publishes using 4 public components - vs 18 (STLFSI), 33 (OFR), 105 (NFCI).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0" y="3246120"/>
            <a:ext cx="6492240" cy="1207008"/>
          </a:xfrm>
          <a:prstGeom prst="rect">
            <a:avLst/>
          </a:prstGeom>
          <a:solidFill>
            <a:srgbClr val="1E2A5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3246120"/>
            <a:ext cx="91440" cy="12070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3392424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Shares the core institutional inputs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381304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(volatility) and a FRED credit spread are exactly the categories OFR, NFCI and CISS rely 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0" y="4617720"/>
            <a:ext cx="6492240" cy="1207008"/>
          </a:xfrm>
          <a:prstGeom prst="rect">
            <a:avLst/>
          </a:prstGeom>
          <a:solidFill>
            <a:srgbClr val="1E2A5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4617720"/>
            <a:ext cx="91440" cy="12070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4764024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Daily, near-zero marginal cost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7800" y="518464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public data - a buy- or sell-side risk desk could run it for daily stress monitoring.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1 - HOW COMPONENTS ARE COMBINED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Institutions learn the weights; FCPS fixes them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27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83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STLFSI4 / NFCI / OFR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principal component / dynamic factor model - weights learned from the data's own co-movement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ECB CISS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theory: weights vary with time-varying cross-correlations, so widespread stress counts more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Goldman Sachs FCI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Macro-model weights - each driver weighted by its modeled one-year impact on GDP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FCPS FSI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Hand-fixed weights (VIX 30%, etc.) - never optimized or stability-tested (noted as a project limitation)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06440"/>
            <a:ext cx="10927080" cy="6858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data-driven weights adapt as correlations shift in a crisis; a static 30% VIX weight cannot. A concrete, fixable upgrade path for FCPS.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5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2 - THE HORIZON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nothing beats VIX out-of-sample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and IMF get real lead time from slow-moving balance-sheet vulnerabilities. FCPS's features (VIX, realized vol, drawdown) are coincident - they move with the crisis, not ahead of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3611880"/>
          </a:xfrm>
          <a:prstGeom prst="rect">
            <a:avLst/>
          </a:prstGeom>
          <a:solidFill>
            <a:srgbClr val="FFFFFF"/>
          </a:solidFill>
          <a:ln w="17780">
            <a:solidFill>
              <a:srgbClr val="3FA66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8716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early-warning (lead 1-2 yrs)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credit-to-GDP gap - best at long horizons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5844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debt-service ratio - dominant 1-2 yrs out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1513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Property-price gaps - build-up of leverage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71830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Growth-at-Risk - credit aggregates lead medium-term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52852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describe vulnerability, not today's price action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331720"/>
            <a:ext cx="5349240" cy="3611880"/>
          </a:xfrm>
          <a:prstGeom prst="rect">
            <a:avLst/>
          </a:prstGeom>
          <a:solidFill>
            <a:srgbClr val="FFFFFF"/>
          </a:solidFill>
          <a:ln w="17780">
            <a:solidFill>
              <a:srgbClr val="E1555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487168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55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FCPS feature set (coincident)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30175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&amp; 21-day realized volatility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35844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63-day drawdown, momentum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41513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regime (driven by the same vol)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471830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spread leads 2008 but lags COVID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52852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each added layer LOWERS OOS PR-AUC vs VIX alone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across 4 independent runs (local + Kaggle GPU, real credit + real FinBERT): a robust null, not a data limitation.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FCPS LEADS THE FIELD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Methodological rigor ahead of much published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FCPS independently reproduced a known result: ML attains high in-sample fit but a simple model wins out-of-sample.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74720" cy="1645920"/>
          </a:xfrm>
          <a:prstGeom prst="rect">
            <a:avLst/>
          </a:prstGeom>
          <a:solidFill>
            <a:srgbClr val="1E2A5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54203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Purged &amp; embargoed walk-forward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349300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21-day embargo so forward labels can't leak (Lopez de Prado 2018)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2286000"/>
            <a:ext cx="3474720" cy="1645920"/>
          </a:xfrm>
          <a:prstGeom prst="rect">
            <a:avLst/>
          </a:prstGeom>
          <a:solidFill>
            <a:srgbClr val="1E2A5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5420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9432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Combinatorial purged CV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99432" y="349300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(overfit probability) + deflated Sharpe on every config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2286000"/>
            <a:ext cx="3474720" cy="1645920"/>
          </a:xfrm>
          <a:prstGeom prst="rect">
            <a:avLst/>
          </a:prstGeom>
          <a:solidFill>
            <a:srgbClr val="1E2A5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54203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02752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baselines, right metrics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302752" y="349300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Base-rate, VIX, persistence; PR-AUC, Brier skill, ECE - not just F1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0080" y="4160520"/>
            <a:ext cx="3474720" cy="1645920"/>
          </a:xfrm>
          <a:prstGeom prst="rect">
            <a:avLst/>
          </a:prstGeom>
          <a:solidFill>
            <a:srgbClr val="1E2A5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41655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6112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 calibration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96112" y="53675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Isotonic/Platt to make risk estimates trustworthy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343400" y="4160520"/>
            <a:ext cx="3474720" cy="1645920"/>
          </a:xfrm>
          <a:prstGeom prst="rect">
            <a:avLst/>
          </a:prstGeom>
          <a:solidFill>
            <a:srgbClr val="1E2A5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416552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99432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(filtered) regimes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599432" y="53675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Forward-only HMM posteriors, unit-tested for no look-ahead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046720" y="4160520"/>
            <a:ext cx="3474720" cy="1645920"/>
          </a:xfrm>
          <a:prstGeom prst="rect">
            <a:avLst/>
          </a:prstGeom>
          <a:solidFill>
            <a:srgbClr val="1E2A5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4416552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02752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Reproduces the literature null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8302752" y="53675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studies where logit beats ML out-of-sample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Scorecard: FCPS vs. institution-grade criteria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2708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5166360"/>
                <a:gridCol w="146304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vs. institutions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Contemporaneous stress 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STLFSI / OFR / CISS (r = 0.82)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FA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Leakage-free OOS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Exceeds typical academic &amp; some industry practice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FA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Recession discrimination (AUC &gt;= 0.80)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0.861 vs Hatzius bar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FA6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 / adaptive aggregation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Institutions use PCA / factor / portfolio weights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probabilities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Implemented; Brier skill still negative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Long-horizon vulnerability signals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BIS credit-gap / DSR equivalents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15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Risk-distribution forecast (Growth-at-Risk)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binary flag; hazard model is a start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5A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Multi-market / multi-asset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US equity market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15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to institution-grade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46504"/>
            <a:ext cx="640080" cy="64008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46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00200" y="1691640"/>
            <a:ext cx="9921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0200" y="1691640"/>
            <a:ext cx="91440" cy="786384"/>
          </a:xfrm>
          <a:prstGeom prst="rect">
            <a:avLst/>
          </a:prstGeom>
          <a:solidFill>
            <a:srgbClr val="E0A23B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783080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BIS-style vulnerability signals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77840" y="1764792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Credit-to-GDP gap, debt-service ratio, property gaps - the inputs that actually lead crises by 1-2 years.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31520" y="2679192"/>
            <a:ext cx="640080" cy="64008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791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600200" y="2624328"/>
            <a:ext cx="9921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00200" y="2624328"/>
            <a:ext cx="91440" cy="78638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271576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Reframe as Growth-at-Risk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2697480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quantile/distribution of forward returns (IMF GaR / survival), not a binary flag.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640080" cy="64008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600200" y="3557016"/>
            <a:ext cx="9921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600200" y="3557016"/>
            <a:ext cx="91440" cy="786384"/>
          </a:xfrm>
          <a:prstGeom prst="rect">
            <a:avLst/>
          </a:prstGeom>
          <a:solidFill>
            <a:srgbClr val="E0A23B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36484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the FSI weights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577840" y="3630168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hand-set weights with PCA / dynamic-factor or CISS-style correlation weighting.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731520" y="4544568"/>
            <a:ext cx="640080" cy="64008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544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600200" y="4489704"/>
            <a:ext cx="9921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00200" y="4489704"/>
            <a:ext cx="91440" cy="78638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0" y="458114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drift monitoring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77840" y="4562856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rolling STLFSI agreement &lt; 0.6; quarterly refit - standard institutional MLOps.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731520" y="5477256"/>
            <a:ext cx="640080" cy="64008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4772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2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600200" y="5422392"/>
            <a:ext cx="9921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600200" y="5422392"/>
            <a:ext cx="91440" cy="786384"/>
          </a:xfrm>
          <a:prstGeom prst="rect">
            <a:avLst/>
          </a:prstGeom>
          <a:solidFill>
            <a:srgbClr val="E0A23B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0" y="551383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Multi-market generalization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77840" y="5495544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leakage-free harness across indices and asset classes.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A2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stress index, an honest predictor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2377440"/>
            <a:ext cx="292608" cy="292608"/>
          </a:xfrm>
          <a:prstGeom prst="ellipse">
            <a:avLst/>
          </a:prstGeom>
          <a:solidFill>
            <a:srgbClr val="E0A23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33172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stress monitor, FCPS is already institution-grade.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71600" y="27157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FSI tracks the Fed's STLFSI4 at r = 0.82 and flags NBER recessions at AUC 0.86 - from 4 public inputs, daily, at near-zero cost.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868680" y="3337560"/>
            <a:ext cx="292608" cy="292608"/>
          </a:xfrm>
          <a:prstGeom prst="ellipse">
            <a:avLst/>
          </a:prstGeom>
          <a:solidFill>
            <a:srgbClr val="E0A23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29184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crisis predictor, it honestly shows the frontier.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71600" y="367588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Out-of-sample, nothing beats a VIX threshold and sentiment/TDA add no value - the same null serious quant and central-bank teams hit.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868680" y="4297680"/>
            <a:ext cx="292608" cy="292608"/>
          </a:xfrm>
          <a:prstGeom prst="ellipse">
            <a:avLst/>
          </a:prstGeom>
          <a:solidFill>
            <a:srgbClr val="E0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25196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rigor is the differentiator.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71600" y="46360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Purged walk-forward, deflated Sharpe, PBO and calibration put FCPS ahead of much published crisis-prediction work.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868680" y="5257800"/>
            <a:ext cx="292608" cy="292608"/>
          </a:xfrm>
          <a:prstGeom prst="ellipse">
            <a:avLst/>
          </a:prstGeom>
          <a:solidFill>
            <a:srgbClr val="E0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521208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to institutions is well-defined.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71600" y="55961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slow-moving vulnerability signals (BIS) and a Growth-at-Risk distribution (IMF) to earn genuine lead time.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82296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FCPS vs. the Institutions  ·  Romin Patel  ·  June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FCPS vs. the Institutions</dc:title>
  <dc:subject>PptxGenJS Presentation</dc:subject>
  <dc:creator>Romin Patel</dc:creator>
  <cp:lastModifiedBy>Romin Patel</cp:lastModifiedBy>
  <cp:revision>1</cp:revision>
  <dcterms:created xsi:type="dcterms:W3CDTF">2026-06-05T23:38:18Z</dcterms:created>
  <dcterms:modified xsi:type="dcterms:W3CDTF">2026-06-05T23:38:18Z</dcterms:modified>
</cp:coreProperties>
</file>